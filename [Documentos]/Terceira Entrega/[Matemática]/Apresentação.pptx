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4"/>
  </p:notesMasterIdLst>
  <p:sldIdLst>
    <p:sldId id="256" r:id="rId2"/>
    <p:sldId id="258" r:id="rId3"/>
    <p:sldId id="260" r:id="rId4"/>
    <p:sldId id="261" r:id="rId5"/>
    <p:sldId id="309" r:id="rId6"/>
    <p:sldId id="310" r:id="rId7"/>
    <p:sldId id="311" r:id="rId8"/>
    <p:sldId id="312" r:id="rId9"/>
    <p:sldId id="313" r:id="rId10"/>
    <p:sldId id="315" r:id="rId11"/>
    <p:sldId id="314" r:id="rId12"/>
    <p:sldId id="289" r:id="rId13"/>
  </p:sldIdLst>
  <p:sldSz cx="9144000" cy="5143500" type="screen16x9"/>
  <p:notesSz cx="6858000" cy="9144000"/>
  <p:embeddedFontLst>
    <p:embeddedFont>
      <p:font typeface="Fira Sans Extra Condensed Medium" panose="020B0604020202020204" charset="0"/>
      <p:regular r:id="rId15"/>
      <p:bold r:id="rId16"/>
      <p:italic r:id="rId17"/>
      <p:boldItalic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D975CD-5F87-4CA0-ABA9-355FCD7A7E56}">
  <a:tblStyle styleId="{E3D975CD-5F87-4CA0-ABA9-355FCD7A7E5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183" name="Google Shape;1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a9469d1f4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195" name="Google Shape;195;ga9469d1f4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a9469d1f40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220" name="Google Shape;220;ga9469d1f40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a9fa940987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227" name="Google Shape;227;ga9fa940987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12B07FA0-4AD2-61DB-D790-79D9D988C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a9469d1f40_0_61:notes">
            <a:extLst>
              <a:ext uri="{FF2B5EF4-FFF2-40B4-BE49-F238E27FC236}">
                <a16:creationId xmlns:a16="http://schemas.microsoft.com/office/drawing/2014/main" id="{45FB0C5A-C04A-9C41-497A-1364A8A474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220" name="Google Shape;220;ga9469d1f40_0_61:notes">
            <a:extLst>
              <a:ext uri="{FF2B5EF4-FFF2-40B4-BE49-F238E27FC236}">
                <a16:creationId xmlns:a16="http://schemas.microsoft.com/office/drawing/2014/main" id="{3ED57949-F417-1129-66E7-D1247B4D6A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2938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8240CC4F-0AD4-1F14-004D-4B68E6E8D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a9fa940987_1_24:notes">
            <a:extLst>
              <a:ext uri="{FF2B5EF4-FFF2-40B4-BE49-F238E27FC236}">
                <a16:creationId xmlns:a16="http://schemas.microsoft.com/office/drawing/2014/main" id="{50A78FDB-7956-BE07-E6AD-1CC41CCE8D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227" name="Google Shape;227;ga9fa940987_1_24:notes">
            <a:extLst>
              <a:ext uri="{FF2B5EF4-FFF2-40B4-BE49-F238E27FC236}">
                <a16:creationId xmlns:a16="http://schemas.microsoft.com/office/drawing/2014/main" id="{A4CD140B-0C7C-0487-051C-232AA2E76D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7554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69ABB9AB-7980-DF0F-E10E-869D98982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a9469d1f40_0_61:notes">
            <a:extLst>
              <a:ext uri="{FF2B5EF4-FFF2-40B4-BE49-F238E27FC236}">
                <a16:creationId xmlns:a16="http://schemas.microsoft.com/office/drawing/2014/main" id="{31B8A58B-333F-EA1C-640B-CA1DC9E25E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220" name="Google Shape;220;ga9469d1f40_0_61:notes">
            <a:extLst>
              <a:ext uri="{FF2B5EF4-FFF2-40B4-BE49-F238E27FC236}">
                <a16:creationId xmlns:a16="http://schemas.microsoft.com/office/drawing/2014/main" id="{4E983C36-E040-8982-5A57-FFBCE2D2F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0404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201DB868-BC4A-3AC3-CF99-245BB456B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a9fa940987_1_24:notes">
            <a:extLst>
              <a:ext uri="{FF2B5EF4-FFF2-40B4-BE49-F238E27FC236}">
                <a16:creationId xmlns:a16="http://schemas.microsoft.com/office/drawing/2014/main" id="{BAF6B6A5-B651-AC94-4CA2-9820C312CE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227" name="Google Shape;227;ga9fa940987_1_24:notes">
            <a:extLst>
              <a:ext uri="{FF2B5EF4-FFF2-40B4-BE49-F238E27FC236}">
                <a16:creationId xmlns:a16="http://schemas.microsoft.com/office/drawing/2014/main" id="{D0DEB31E-BF55-4242-2C59-E34F9574EE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61004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56A5C0A5-8F17-48A5-0D79-7464CBB2C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a9469d1f40_0_61:notes">
            <a:extLst>
              <a:ext uri="{FF2B5EF4-FFF2-40B4-BE49-F238E27FC236}">
                <a16:creationId xmlns:a16="http://schemas.microsoft.com/office/drawing/2014/main" id="{8713541B-5666-7565-D22B-48E5FB1A90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220" name="Google Shape;220;ga9469d1f40_0_61:notes">
            <a:extLst>
              <a:ext uri="{FF2B5EF4-FFF2-40B4-BE49-F238E27FC236}">
                <a16:creationId xmlns:a16="http://schemas.microsoft.com/office/drawing/2014/main" id="{42E7FCAB-E095-7BB2-266F-3BBC60463A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3851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9DEB7F90-393E-D410-3FE7-FF87E094A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a9fa940987_1_24:notes">
            <a:extLst>
              <a:ext uri="{FF2B5EF4-FFF2-40B4-BE49-F238E27FC236}">
                <a16:creationId xmlns:a16="http://schemas.microsoft.com/office/drawing/2014/main" id="{9A20C57C-7709-1BFE-FD50-23C775697E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227" name="Google Shape;227;ga9fa940987_1_24:notes">
            <a:extLst>
              <a:ext uri="{FF2B5EF4-FFF2-40B4-BE49-F238E27FC236}">
                <a16:creationId xmlns:a16="http://schemas.microsoft.com/office/drawing/2014/main" id="{9CD20291-4EA7-CBA0-D9E4-428E5E3E09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64723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432817C9-7FCE-B541-B48A-05A6DCA9E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a9fa940987_1_24:notes">
            <a:extLst>
              <a:ext uri="{FF2B5EF4-FFF2-40B4-BE49-F238E27FC236}">
                <a16:creationId xmlns:a16="http://schemas.microsoft.com/office/drawing/2014/main" id="{CED03136-A2D2-DE65-C37F-479936B344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227" name="Google Shape;227;ga9fa940987_1_24:notes">
            <a:extLst>
              <a:ext uri="{FF2B5EF4-FFF2-40B4-BE49-F238E27FC236}">
                <a16:creationId xmlns:a16="http://schemas.microsoft.com/office/drawing/2014/main" id="{BB759FC7-81DC-5490-809C-95F21A1F8B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44362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9fa940987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664" name="Google Shape;664;ga9fa940987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43858" y="1172225"/>
            <a:ext cx="677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643852" y="3261775"/>
            <a:ext cx="6770700" cy="5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968425" y="2227050"/>
            <a:ext cx="4462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968275" y="3045375"/>
            <a:ext cx="44625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3968350" y="1262325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/>
          <p:nvPr/>
        </p:nvSpPr>
        <p:spPr>
          <a:xfrm rot="10800000" flipH="1">
            <a:off x="1441925" y="2571600"/>
            <a:ext cx="1216200" cy="159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 rot="10800000" flipH="1">
            <a:off x="2658125" y="0"/>
            <a:ext cx="12162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ctrTitle" idx="2"/>
          </p:nvPr>
        </p:nvSpPr>
        <p:spPr>
          <a:xfrm>
            <a:off x="2310350" y="1446813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title" idx="3" hasCustomPrompt="1"/>
          </p:nvPr>
        </p:nvSpPr>
        <p:spPr>
          <a:xfrm>
            <a:off x="717800" y="1521025"/>
            <a:ext cx="1493400" cy="94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1"/>
          </p:nvPr>
        </p:nvSpPr>
        <p:spPr>
          <a:xfrm>
            <a:off x="2310350" y="1858875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ctrTitle" idx="4"/>
          </p:nvPr>
        </p:nvSpPr>
        <p:spPr>
          <a:xfrm>
            <a:off x="6233050" y="1446813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title" idx="5" hasCustomPrompt="1"/>
          </p:nvPr>
        </p:nvSpPr>
        <p:spPr>
          <a:xfrm>
            <a:off x="4686400" y="1521025"/>
            <a:ext cx="1493400" cy="94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4"/>
          <p:cNvSpPr txBox="1">
            <a:spLocks noGrp="1"/>
          </p:cNvSpPr>
          <p:nvPr>
            <p:ph type="subTitle" idx="6"/>
          </p:nvPr>
        </p:nvSpPr>
        <p:spPr>
          <a:xfrm>
            <a:off x="6275800" y="1858878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ctrTitle" idx="7"/>
          </p:nvPr>
        </p:nvSpPr>
        <p:spPr>
          <a:xfrm>
            <a:off x="2310350" y="2868777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title" idx="8" hasCustomPrompt="1"/>
          </p:nvPr>
        </p:nvSpPr>
        <p:spPr>
          <a:xfrm>
            <a:off x="717800" y="2960450"/>
            <a:ext cx="1493400" cy="94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14"/>
          <p:cNvSpPr txBox="1">
            <a:spLocks noGrp="1"/>
          </p:cNvSpPr>
          <p:nvPr>
            <p:ph type="subTitle" idx="9"/>
          </p:nvPr>
        </p:nvSpPr>
        <p:spPr>
          <a:xfrm>
            <a:off x="2310350" y="3298325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ctrTitle" idx="13"/>
          </p:nvPr>
        </p:nvSpPr>
        <p:spPr>
          <a:xfrm>
            <a:off x="6275650" y="2868775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title" idx="14" hasCustomPrompt="1"/>
          </p:nvPr>
        </p:nvSpPr>
        <p:spPr>
          <a:xfrm>
            <a:off x="4686400" y="2960450"/>
            <a:ext cx="1493400" cy="94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14"/>
          <p:cNvSpPr txBox="1">
            <a:spLocks noGrp="1"/>
          </p:cNvSpPr>
          <p:nvPr>
            <p:ph type="subTitle" idx="15"/>
          </p:nvPr>
        </p:nvSpPr>
        <p:spPr>
          <a:xfrm>
            <a:off x="6275800" y="3298325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457200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CUSTOM_6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3984975" y="1495800"/>
            <a:ext cx="4055400" cy="7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1"/>
          </p:nvPr>
        </p:nvSpPr>
        <p:spPr>
          <a:xfrm>
            <a:off x="3994375" y="2142600"/>
            <a:ext cx="4055400" cy="15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/>
          <p:nvPr/>
        </p:nvSpPr>
        <p:spPr>
          <a:xfrm rot="10800000" flipH="1">
            <a:off x="0" y="2571825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0"/>
          <p:cNvSpPr/>
          <p:nvPr/>
        </p:nvSpPr>
        <p:spPr>
          <a:xfrm rot="10800000" flipH="1">
            <a:off x="1219200" y="1247175"/>
            <a:ext cx="1216200" cy="132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4" name="Google Shape;144;p24"/>
          <p:cNvSpPr txBox="1">
            <a:spLocks noGrp="1"/>
          </p:cNvSpPr>
          <p:nvPr>
            <p:ph type="subTitle" idx="1"/>
          </p:nvPr>
        </p:nvSpPr>
        <p:spPr>
          <a:xfrm>
            <a:off x="717800" y="1255775"/>
            <a:ext cx="4631700" cy="33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5" name="Google Shape;145;p24"/>
          <p:cNvSpPr/>
          <p:nvPr/>
        </p:nvSpPr>
        <p:spPr>
          <a:xfrm>
            <a:off x="7927800" y="257160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60" r:id="rId4"/>
    <p:sldLayoutId id="2147483666" r:id="rId5"/>
    <p:sldLayoutId id="2147483670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>
            <a:spLocks noGrp="1"/>
          </p:cNvSpPr>
          <p:nvPr>
            <p:ph type="ctrTitle"/>
          </p:nvPr>
        </p:nvSpPr>
        <p:spPr>
          <a:xfrm>
            <a:off x="1643858" y="1172225"/>
            <a:ext cx="677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chemeClr val="accent1"/>
                </a:solidFill>
              </a:rPr>
              <a:t>AquaPoint</a:t>
            </a:r>
            <a:br>
              <a:rPr lang="pt-PT" dirty="0">
                <a:solidFill>
                  <a:schemeClr val="accent1"/>
                </a:solidFill>
              </a:rPr>
            </a:br>
            <a:r>
              <a:rPr lang="pt-PT" sz="4000" dirty="0">
                <a:solidFill>
                  <a:schemeClr val="dk2"/>
                </a:solidFill>
              </a:rPr>
              <a:t>Matemática Discreta</a:t>
            </a:r>
            <a:endParaRPr lang="pt-PT" dirty="0">
              <a:solidFill>
                <a:schemeClr val="dk2"/>
              </a:solidFill>
            </a:endParaRPr>
          </a:p>
        </p:txBody>
      </p:sp>
      <p:sp>
        <p:nvSpPr>
          <p:cNvPr id="186" name="Google Shape;186;p30"/>
          <p:cNvSpPr txBox="1">
            <a:spLocks noGrp="1"/>
          </p:cNvSpPr>
          <p:nvPr>
            <p:ph type="subTitle" idx="1"/>
          </p:nvPr>
        </p:nvSpPr>
        <p:spPr>
          <a:xfrm>
            <a:off x="1643852" y="3261775"/>
            <a:ext cx="6770700" cy="5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Grupo 2</a:t>
            </a:r>
            <a:br>
              <a:rPr lang="pt-PT" dirty="0"/>
            </a:br>
            <a:r>
              <a:rPr lang="pt-PT" dirty="0"/>
              <a:t>João Rua – Evandro Gaspar</a:t>
            </a: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Conteúdos</a:t>
            </a:r>
            <a:endParaRPr dirty="0"/>
          </a:p>
        </p:txBody>
      </p:sp>
      <p:sp>
        <p:nvSpPr>
          <p:cNvPr id="198" name="Google Shape;198;p32"/>
          <p:cNvSpPr txBox="1">
            <a:spLocks noGrp="1"/>
          </p:cNvSpPr>
          <p:nvPr>
            <p:ph type="ctrTitle" idx="2"/>
          </p:nvPr>
        </p:nvSpPr>
        <p:spPr>
          <a:xfrm>
            <a:off x="2310350" y="1446813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Introdução</a:t>
            </a:r>
            <a:endParaRPr dirty="0"/>
          </a:p>
        </p:txBody>
      </p:sp>
      <p:sp>
        <p:nvSpPr>
          <p:cNvPr id="199" name="Google Shape;199;p32"/>
          <p:cNvSpPr txBox="1">
            <a:spLocks noGrp="1"/>
          </p:cNvSpPr>
          <p:nvPr>
            <p:ph type="title" idx="3"/>
          </p:nvPr>
        </p:nvSpPr>
        <p:spPr>
          <a:xfrm>
            <a:off x="717800" y="1521025"/>
            <a:ext cx="14934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0" name="Google Shape;200;p32"/>
          <p:cNvSpPr txBox="1">
            <a:spLocks noGrp="1"/>
          </p:cNvSpPr>
          <p:nvPr>
            <p:ph type="subTitle" idx="1"/>
          </p:nvPr>
        </p:nvSpPr>
        <p:spPr>
          <a:xfrm>
            <a:off x="2310350" y="1858875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Uma pequena introdução</a:t>
            </a:r>
            <a:endParaRPr dirty="0"/>
          </a:p>
        </p:txBody>
      </p:sp>
      <p:sp>
        <p:nvSpPr>
          <p:cNvPr id="201" name="Google Shape;201;p32"/>
          <p:cNvSpPr txBox="1">
            <a:spLocks noGrp="1"/>
          </p:cNvSpPr>
          <p:nvPr>
            <p:ph type="ctrTitle" idx="4"/>
          </p:nvPr>
        </p:nvSpPr>
        <p:spPr>
          <a:xfrm>
            <a:off x="6275800" y="1446813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Problema</a:t>
            </a:r>
            <a:endParaRPr dirty="0"/>
          </a:p>
        </p:txBody>
      </p:sp>
      <p:sp>
        <p:nvSpPr>
          <p:cNvPr id="202" name="Google Shape;202;p32"/>
          <p:cNvSpPr txBox="1">
            <a:spLocks noGrp="1"/>
          </p:cNvSpPr>
          <p:nvPr>
            <p:ph type="title" idx="5"/>
          </p:nvPr>
        </p:nvSpPr>
        <p:spPr>
          <a:xfrm>
            <a:off x="4686400" y="1521025"/>
            <a:ext cx="14934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03" name="Google Shape;203;p32"/>
          <p:cNvSpPr txBox="1">
            <a:spLocks noGrp="1"/>
          </p:cNvSpPr>
          <p:nvPr>
            <p:ph type="subTitle" idx="6"/>
          </p:nvPr>
        </p:nvSpPr>
        <p:spPr>
          <a:xfrm>
            <a:off x="6275800" y="1858878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dirty="0"/>
              <a:t>Os problemas encontrados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4" name="Google Shape;204;p32"/>
          <p:cNvSpPr txBox="1">
            <a:spLocks noGrp="1"/>
          </p:cNvSpPr>
          <p:nvPr>
            <p:ph type="ctrTitle" idx="7"/>
          </p:nvPr>
        </p:nvSpPr>
        <p:spPr>
          <a:xfrm>
            <a:off x="2310350" y="2868777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Solução </a:t>
            </a:r>
            <a:endParaRPr dirty="0"/>
          </a:p>
        </p:txBody>
      </p:sp>
      <p:sp>
        <p:nvSpPr>
          <p:cNvPr id="205" name="Google Shape;205;p32"/>
          <p:cNvSpPr txBox="1">
            <a:spLocks noGrp="1"/>
          </p:cNvSpPr>
          <p:nvPr>
            <p:ph type="title" idx="8"/>
          </p:nvPr>
        </p:nvSpPr>
        <p:spPr>
          <a:xfrm>
            <a:off x="717800" y="2960450"/>
            <a:ext cx="14934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06" name="Google Shape;206;p32"/>
          <p:cNvSpPr txBox="1">
            <a:spLocks noGrp="1"/>
          </p:cNvSpPr>
          <p:nvPr>
            <p:ph type="subTitle" idx="9"/>
          </p:nvPr>
        </p:nvSpPr>
        <p:spPr>
          <a:xfrm>
            <a:off x="2310350" y="3298325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dirty="0"/>
              <a:t>A solução para os problemas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7" name="Google Shape;207;p32"/>
          <p:cNvSpPr txBox="1">
            <a:spLocks noGrp="1"/>
          </p:cNvSpPr>
          <p:nvPr>
            <p:ph type="ctrTitle" idx="13"/>
          </p:nvPr>
        </p:nvSpPr>
        <p:spPr>
          <a:xfrm>
            <a:off x="6275650" y="2868775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Aplicação na UC</a:t>
            </a:r>
            <a:endParaRPr dirty="0"/>
          </a:p>
        </p:txBody>
      </p:sp>
      <p:sp>
        <p:nvSpPr>
          <p:cNvPr id="208" name="Google Shape;208;p32"/>
          <p:cNvSpPr txBox="1">
            <a:spLocks noGrp="1"/>
          </p:cNvSpPr>
          <p:nvPr>
            <p:ph type="title" idx="14"/>
          </p:nvPr>
        </p:nvSpPr>
        <p:spPr>
          <a:xfrm>
            <a:off x="4686400" y="2960450"/>
            <a:ext cx="1493400" cy="9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09" name="Google Shape;209;p32"/>
          <p:cNvSpPr txBox="1">
            <a:spLocks noGrp="1"/>
          </p:cNvSpPr>
          <p:nvPr>
            <p:ph type="subTitle" idx="15"/>
          </p:nvPr>
        </p:nvSpPr>
        <p:spPr>
          <a:xfrm>
            <a:off x="6275800" y="3298325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dirty="0"/>
              <a:t>Onde matemática discreta entra nesta aplicação?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>
            <a:spLocks noGrp="1"/>
          </p:cNvSpPr>
          <p:nvPr>
            <p:ph type="title"/>
          </p:nvPr>
        </p:nvSpPr>
        <p:spPr>
          <a:xfrm>
            <a:off x="3968425" y="2227050"/>
            <a:ext cx="4462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Introdução</a:t>
            </a:r>
            <a:endParaRPr dirty="0"/>
          </a:p>
        </p:txBody>
      </p:sp>
      <p:sp>
        <p:nvSpPr>
          <p:cNvPr id="223" name="Google Shape;223;p34"/>
          <p:cNvSpPr txBox="1">
            <a:spLocks noGrp="1"/>
          </p:cNvSpPr>
          <p:nvPr>
            <p:ph type="subTitle" idx="1"/>
          </p:nvPr>
        </p:nvSpPr>
        <p:spPr>
          <a:xfrm>
            <a:off x="3968275" y="3045375"/>
            <a:ext cx="44625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chemeClr val="accent2"/>
                </a:solidFill>
              </a:rPr>
              <a:t>Uma pequena introdução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24" name="Google Shape;224;p34"/>
          <p:cNvSpPr txBox="1">
            <a:spLocks noGrp="1"/>
          </p:cNvSpPr>
          <p:nvPr>
            <p:ph type="title" idx="2"/>
          </p:nvPr>
        </p:nvSpPr>
        <p:spPr>
          <a:xfrm>
            <a:off x="3968350" y="1262325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>
            <a:spLocks noGrp="1"/>
          </p:cNvSpPr>
          <p:nvPr>
            <p:ph type="title"/>
          </p:nvPr>
        </p:nvSpPr>
        <p:spPr>
          <a:xfrm>
            <a:off x="3984975" y="1495800"/>
            <a:ext cx="4055400" cy="7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Introdução</a:t>
            </a:r>
            <a:endParaRPr dirty="0"/>
          </a:p>
        </p:txBody>
      </p:sp>
      <p:sp>
        <p:nvSpPr>
          <p:cNvPr id="230" name="Google Shape;230;p35"/>
          <p:cNvSpPr txBox="1">
            <a:spLocks noGrp="1"/>
          </p:cNvSpPr>
          <p:nvPr>
            <p:ph type="subTitle" idx="1"/>
          </p:nvPr>
        </p:nvSpPr>
        <p:spPr>
          <a:xfrm>
            <a:off x="3994375" y="2142599"/>
            <a:ext cx="4055400" cy="18932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b="1" dirty="0" err="1"/>
              <a:t>Aqua</a:t>
            </a:r>
            <a:r>
              <a:rPr lang="pt-PT" b="1" dirty="0"/>
              <a:t> </a:t>
            </a:r>
            <a:r>
              <a:rPr lang="pt-PT" b="1" dirty="0" err="1"/>
              <a:t>Point</a:t>
            </a:r>
            <a:r>
              <a:rPr lang="pt-PT" b="1" dirty="0"/>
              <a:t> </a:t>
            </a:r>
            <a:r>
              <a:rPr lang="pt-PT" dirty="0"/>
              <a:t>é uma aplicação que permite os utilizadores </a:t>
            </a:r>
            <a:r>
              <a:rPr lang="pt-PT" b="1" dirty="0"/>
              <a:t>encontrarem</a:t>
            </a:r>
            <a:r>
              <a:rPr lang="pt-PT" dirty="0"/>
              <a:t> bebedouros perto de si, assim como </a:t>
            </a:r>
            <a:r>
              <a:rPr lang="pt-PT" b="1" dirty="0"/>
              <a:t>consultar</a:t>
            </a:r>
            <a:r>
              <a:rPr lang="pt-PT" dirty="0"/>
              <a:t> o seu estado de funcionamento e </a:t>
            </a:r>
            <a:r>
              <a:rPr lang="pt-PT" b="1" dirty="0"/>
              <a:t>opiniões</a:t>
            </a:r>
            <a:r>
              <a:rPr lang="pt-PT" dirty="0"/>
              <a:t> fornecidas por outros utilizadores.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>
          <a:extLst>
            <a:ext uri="{FF2B5EF4-FFF2-40B4-BE49-F238E27FC236}">
              <a16:creationId xmlns:a16="http://schemas.microsoft.com/office/drawing/2014/main" id="{C049D15B-D5AA-3370-8958-9A9B869F0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>
            <a:extLst>
              <a:ext uri="{FF2B5EF4-FFF2-40B4-BE49-F238E27FC236}">
                <a16:creationId xmlns:a16="http://schemas.microsoft.com/office/drawing/2014/main" id="{90E699B2-2F7E-CDFE-0BC9-B93518B42E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8425" y="2227050"/>
            <a:ext cx="4462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Problema</a:t>
            </a:r>
            <a:endParaRPr dirty="0"/>
          </a:p>
        </p:txBody>
      </p:sp>
      <p:sp>
        <p:nvSpPr>
          <p:cNvPr id="223" name="Google Shape;223;p34">
            <a:extLst>
              <a:ext uri="{FF2B5EF4-FFF2-40B4-BE49-F238E27FC236}">
                <a16:creationId xmlns:a16="http://schemas.microsoft.com/office/drawing/2014/main" id="{53CF6BFD-1A93-100B-3CD6-B851E90B7DB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968275" y="3045375"/>
            <a:ext cx="44625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chemeClr val="accent2"/>
                </a:solidFill>
              </a:rPr>
              <a:t>Os problemas encontrados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24" name="Google Shape;224;p34">
            <a:extLst>
              <a:ext uri="{FF2B5EF4-FFF2-40B4-BE49-F238E27FC236}">
                <a16:creationId xmlns:a16="http://schemas.microsoft.com/office/drawing/2014/main" id="{DFABE06B-01B0-7847-D1C2-6A0E4BDDB7D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68350" y="1262325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3806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>
          <a:extLst>
            <a:ext uri="{FF2B5EF4-FFF2-40B4-BE49-F238E27FC236}">
              <a16:creationId xmlns:a16="http://schemas.microsoft.com/office/drawing/2014/main" id="{BD5A2BC1-8D42-9C2E-B1F1-3E77B9B92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>
            <a:extLst>
              <a:ext uri="{FF2B5EF4-FFF2-40B4-BE49-F238E27FC236}">
                <a16:creationId xmlns:a16="http://schemas.microsoft.com/office/drawing/2014/main" id="{6D977C43-4F8D-EDF7-400D-6169C8593E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4975" y="1495800"/>
            <a:ext cx="4055400" cy="7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 Problema</a:t>
            </a:r>
            <a:endParaRPr dirty="0"/>
          </a:p>
        </p:txBody>
      </p:sp>
      <p:sp>
        <p:nvSpPr>
          <p:cNvPr id="230" name="Google Shape;230;p35">
            <a:extLst>
              <a:ext uri="{FF2B5EF4-FFF2-40B4-BE49-F238E27FC236}">
                <a16:creationId xmlns:a16="http://schemas.microsoft.com/office/drawing/2014/main" id="{E72AA6D2-8CEC-CF08-D21E-9BD07A885C0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994375" y="2142600"/>
            <a:ext cx="4055400" cy="15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dirty="0"/>
              <a:t>A ideia da aplicação </a:t>
            </a:r>
            <a:r>
              <a:rPr lang="pt-PT" b="1" dirty="0" err="1"/>
              <a:t>Aqua</a:t>
            </a:r>
            <a:r>
              <a:rPr lang="pt-PT" b="1" dirty="0"/>
              <a:t> </a:t>
            </a:r>
            <a:r>
              <a:rPr lang="pt-PT" b="1" dirty="0" err="1"/>
              <a:t>Point</a:t>
            </a:r>
            <a:r>
              <a:rPr lang="pt-PT" dirty="0"/>
              <a:t>, surgiu de um problema, sendo ele a falta de bebedouros funcionais perto de cada utilizador.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PT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dirty="0"/>
              <a:t>É muito comum no nosso dia a dia encontrarmos bebedouros que simplesmente não funcionam ou estão em condições muito más.</a:t>
            </a:r>
          </a:p>
        </p:txBody>
      </p:sp>
    </p:spTree>
    <p:extLst>
      <p:ext uri="{BB962C8B-B14F-4D97-AF65-F5344CB8AC3E}">
        <p14:creationId xmlns:p14="http://schemas.microsoft.com/office/powerpoint/2010/main" val="601107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>
          <a:extLst>
            <a:ext uri="{FF2B5EF4-FFF2-40B4-BE49-F238E27FC236}">
              <a16:creationId xmlns:a16="http://schemas.microsoft.com/office/drawing/2014/main" id="{072F8939-ED16-5AC4-6029-E1E427E2A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>
            <a:extLst>
              <a:ext uri="{FF2B5EF4-FFF2-40B4-BE49-F238E27FC236}">
                <a16:creationId xmlns:a16="http://schemas.microsoft.com/office/drawing/2014/main" id="{E2ADE5FC-3C3B-35D8-558A-8AE669BF63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8425" y="2227050"/>
            <a:ext cx="4462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Solução</a:t>
            </a:r>
            <a:endParaRPr dirty="0"/>
          </a:p>
        </p:txBody>
      </p:sp>
      <p:sp>
        <p:nvSpPr>
          <p:cNvPr id="223" name="Google Shape;223;p34">
            <a:extLst>
              <a:ext uri="{FF2B5EF4-FFF2-40B4-BE49-F238E27FC236}">
                <a16:creationId xmlns:a16="http://schemas.microsoft.com/office/drawing/2014/main" id="{146DBD59-2712-85DC-5FB2-F1017E81375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968275" y="3045375"/>
            <a:ext cx="44625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chemeClr val="accent2"/>
                </a:solidFill>
              </a:rPr>
              <a:t>As soluções para os problemas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24" name="Google Shape;224;p34">
            <a:extLst>
              <a:ext uri="{FF2B5EF4-FFF2-40B4-BE49-F238E27FC236}">
                <a16:creationId xmlns:a16="http://schemas.microsoft.com/office/drawing/2014/main" id="{955AD449-F1D8-3061-E118-6696190C236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68350" y="1262325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7350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>
          <a:extLst>
            <a:ext uri="{FF2B5EF4-FFF2-40B4-BE49-F238E27FC236}">
              <a16:creationId xmlns:a16="http://schemas.microsoft.com/office/drawing/2014/main" id="{F36C7D95-54B7-73DA-FC90-77D41CDFD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>
            <a:extLst>
              <a:ext uri="{FF2B5EF4-FFF2-40B4-BE49-F238E27FC236}">
                <a16:creationId xmlns:a16="http://schemas.microsoft.com/office/drawing/2014/main" id="{FEEB0291-EF7F-3D8E-67F1-AE070E887E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4975" y="1495800"/>
            <a:ext cx="4055400" cy="7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Solução</a:t>
            </a:r>
            <a:endParaRPr dirty="0"/>
          </a:p>
        </p:txBody>
      </p:sp>
      <p:sp>
        <p:nvSpPr>
          <p:cNvPr id="230" name="Google Shape;230;p35">
            <a:extLst>
              <a:ext uri="{FF2B5EF4-FFF2-40B4-BE49-F238E27FC236}">
                <a16:creationId xmlns:a16="http://schemas.microsoft.com/office/drawing/2014/main" id="{5ACC32EC-1EF2-B7F2-0D71-90BCFF6BF68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994375" y="2142600"/>
            <a:ext cx="4055400" cy="15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 solução foi criar uma aplicação que permite utilizadores verificarem em tempo real todos os bebedouros perto de si, consultar o seu estado de funcionamento, dar e verificar opiniões e adicionar novos bebedouros ao mapa da aplicação.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0576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>
          <a:extLst>
            <a:ext uri="{FF2B5EF4-FFF2-40B4-BE49-F238E27FC236}">
              <a16:creationId xmlns:a16="http://schemas.microsoft.com/office/drawing/2014/main" id="{ACDE18F9-90B3-C3FE-C20B-592A0622A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>
            <a:extLst>
              <a:ext uri="{FF2B5EF4-FFF2-40B4-BE49-F238E27FC236}">
                <a16:creationId xmlns:a16="http://schemas.microsoft.com/office/drawing/2014/main" id="{61A9C38B-C284-A24B-8236-C5AC665DE7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8425" y="2227050"/>
            <a:ext cx="4462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Aplicação na UC</a:t>
            </a:r>
            <a:endParaRPr sz="3600" dirty="0"/>
          </a:p>
        </p:txBody>
      </p:sp>
      <p:sp>
        <p:nvSpPr>
          <p:cNvPr id="223" name="Google Shape;223;p34">
            <a:extLst>
              <a:ext uri="{FF2B5EF4-FFF2-40B4-BE49-F238E27FC236}">
                <a16:creationId xmlns:a16="http://schemas.microsoft.com/office/drawing/2014/main" id="{B63816E5-C99A-D04F-4813-73FAC149A28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968275" y="3045375"/>
            <a:ext cx="44625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>
                <a:solidFill>
                  <a:schemeClr val="accent2"/>
                </a:solidFill>
              </a:rPr>
              <a:t>Onde matemática discreta entra no desenvolvimento da UC?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24" name="Google Shape;224;p34">
            <a:extLst>
              <a:ext uri="{FF2B5EF4-FFF2-40B4-BE49-F238E27FC236}">
                <a16:creationId xmlns:a16="http://schemas.microsoft.com/office/drawing/2014/main" id="{82539900-E134-AA33-A018-2F115F7D583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68350" y="1262325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3331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>
          <a:extLst>
            <a:ext uri="{FF2B5EF4-FFF2-40B4-BE49-F238E27FC236}">
              <a16:creationId xmlns:a16="http://schemas.microsoft.com/office/drawing/2014/main" id="{D029B61B-CDD9-0F32-0CCD-9FFAECA3A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>
            <a:extLst>
              <a:ext uri="{FF2B5EF4-FFF2-40B4-BE49-F238E27FC236}">
                <a16:creationId xmlns:a16="http://schemas.microsoft.com/office/drawing/2014/main" id="{B5D63FE1-BC52-0700-3B4A-26F24C2F1A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6320" y="1079692"/>
            <a:ext cx="4055400" cy="7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Aplicação na UC</a:t>
            </a:r>
            <a:endParaRPr dirty="0"/>
          </a:p>
        </p:txBody>
      </p:sp>
      <p:sp>
        <p:nvSpPr>
          <p:cNvPr id="230" name="Google Shape;230;p35">
            <a:extLst>
              <a:ext uri="{FF2B5EF4-FFF2-40B4-BE49-F238E27FC236}">
                <a16:creationId xmlns:a16="http://schemas.microsoft.com/office/drawing/2014/main" id="{D9416378-32AF-8A98-089C-CD46F216120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77324" y="1683005"/>
            <a:ext cx="3418228" cy="35640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Matemática discreta teve um papel importante no desenvolvimento do projeto.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Foi utilizada em diversas fases do desenvolvimento, como: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dirty="0"/>
              <a:t>Verificar estados do bebedouro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dirty="0"/>
              <a:t>Verificar se o utilizador tem sessão iniciada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dirty="0"/>
              <a:t>Verificar se bebedouro está nos favoritos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dirty="0"/>
              <a:t>Verificar e calcular a distancia de um bebedouro</a:t>
            </a:r>
          </a:p>
        </p:txBody>
      </p:sp>
    </p:spTree>
    <p:extLst>
      <p:ext uri="{BB962C8B-B14F-4D97-AF65-F5344CB8AC3E}">
        <p14:creationId xmlns:p14="http://schemas.microsoft.com/office/powerpoint/2010/main" val="2090457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>
          <a:extLst>
            <a:ext uri="{FF2B5EF4-FFF2-40B4-BE49-F238E27FC236}">
              <a16:creationId xmlns:a16="http://schemas.microsoft.com/office/drawing/2014/main" id="{85557E58-7464-813C-666C-38775E469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>
            <a:extLst>
              <a:ext uri="{FF2B5EF4-FFF2-40B4-BE49-F238E27FC236}">
                <a16:creationId xmlns:a16="http://schemas.microsoft.com/office/drawing/2014/main" id="{E5834CFC-1D6D-3E7A-88BC-ABE1A0392B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6320" y="1079692"/>
            <a:ext cx="4055400" cy="7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Aplicação na UC</a:t>
            </a:r>
            <a:endParaRPr dirty="0"/>
          </a:p>
        </p:txBody>
      </p:sp>
      <p:sp>
        <p:nvSpPr>
          <p:cNvPr id="230" name="Google Shape;230;p35">
            <a:extLst>
              <a:ext uri="{FF2B5EF4-FFF2-40B4-BE49-F238E27FC236}">
                <a16:creationId xmlns:a16="http://schemas.microsoft.com/office/drawing/2014/main" id="{8034A5D4-02A6-A945-1EFE-5909CE26762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77324" y="1683005"/>
            <a:ext cx="3418228" cy="35640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buSzPts val="1100"/>
            </a:pPr>
            <a:r>
              <a:rPr lang="en" dirty="0"/>
              <a:t>Continuação da caracterização das zonas onde a UC foi aplicada:</a:t>
            </a:r>
          </a:p>
          <a:p>
            <a:pPr marL="0" lvl="0" indent="0" algn="just">
              <a:buSzPts val="1100"/>
            </a:pPr>
            <a:endParaRPr lang="en" dirty="0"/>
          </a:p>
          <a:p>
            <a:pPr marL="285750" lvl="0" indent="-285750" algn="just">
              <a:buSzPts val="1100"/>
              <a:buFont typeface="Arial" panose="020B0604020202020204" pitchFamily="34" charset="0"/>
              <a:buChar char="•"/>
            </a:pPr>
            <a:r>
              <a:rPr lang="en" dirty="0"/>
              <a:t>Calcular a média das opiniões dadas em um bebedouro</a:t>
            </a:r>
          </a:p>
          <a:p>
            <a:pPr marL="285750" lvl="0" indent="-285750" algn="just">
              <a:buSzPts val="1100"/>
              <a:buFont typeface="Arial" panose="020B0604020202020204" pitchFamily="34" charset="0"/>
              <a:buChar char="•"/>
            </a:pPr>
            <a:r>
              <a:rPr lang="en" dirty="0"/>
              <a:t>Ao criar novas reviews a bebedouros, é efetuada uma verificação ao comentário e ao rating escolhido pelo utilizador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039176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648;p62">
            <a:extLst>
              <a:ext uri="{FF2B5EF4-FFF2-40B4-BE49-F238E27FC236}">
                <a16:creationId xmlns:a16="http://schemas.microsoft.com/office/drawing/2014/main" id="{CFA90785-2279-F4F1-B33A-2A3F5C5C48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858900" cy="13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/>
              <a:t>Fim</a:t>
            </a:r>
            <a:endParaRPr sz="8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agement Consulting Toolkit by Slidesgo">
  <a:themeElements>
    <a:clrScheme name="Simple Light">
      <a:dk1>
        <a:srgbClr val="000000"/>
      </a:dk1>
      <a:lt1>
        <a:srgbClr val="FFFFFF"/>
      </a:lt1>
      <a:dk2>
        <a:srgbClr val="4A8CFF"/>
      </a:dk2>
      <a:lt2>
        <a:srgbClr val="EFEFEF"/>
      </a:lt2>
      <a:accent1>
        <a:srgbClr val="003BA3"/>
      </a:accent1>
      <a:accent2>
        <a:srgbClr val="000000"/>
      </a:accent2>
      <a:accent3>
        <a:srgbClr val="4A8CFF"/>
      </a:accent3>
      <a:accent4>
        <a:srgbClr val="EFEFEF"/>
      </a:accent4>
      <a:accent5>
        <a:srgbClr val="003BA3"/>
      </a:accent5>
      <a:accent6>
        <a:srgbClr val="000000"/>
      </a:accent6>
      <a:hlink>
        <a:srgbClr val="003B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Microsoft Office PowerPoint</Application>
  <PresentationFormat>Apresentação no Ecrã (16:9)</PresentationFormat>
  <Paragraphs>49</Paragraphs>
  <Slides>12</Slides>
  <Notes>12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6" baseType="lpstr">
      <vt:lpstr>Arial</vt:lpstr>
      <vt:lpstr>Montserrat</vt:lpstr>
      <vt:lpstr>Fira Sans Extra Condensed Medium</vt:lpstr>
      <vt:lpstr>Management Consulting Toolkit by Slidesgo</vt:lpstr>
      <vt:lpstr>AquaPoint Matemática Discreta</vt:lpstr>
      <vt:lpstr>Conteúdos</vt:lpstr>
      <vt:lpstr>Introdução</vt:lpstr>
      <vt:lpstr>Introdução</vt:lpstr>
      <vt:lpstr>Problema</vt:lpstr>
      <vt:lpstr>O Problema</vt:lpstr>
      <vt:lpstr>Solução</vt:lpstr>
      <vt:lpstr>A Solução</vt:lpstr>
      <vt:lpstr>Aplicação na UC</vt:lpstr>
      <vt:lpstr>Aplicação na UC</vt:lpstr>
      <vt:lpstr>Aplicação na UC</vt:lpstr>
      <vt:lpstr>Fim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João Pedro Lourenço Teixeira Rua</cp:lastModifiedBy>
  <cp:revision>2</cp:revision>
  <dcterms:modified xsi:type="dcterms:W3CDTF">2025-12-11T15:47:37Z</dcterms:modified>
</cp:coreProperties>
</file>